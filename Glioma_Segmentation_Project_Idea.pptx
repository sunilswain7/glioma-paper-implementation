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C6E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365760"/>
            <a:ext cx="2743200" cy="2743200"/>
          </a:xfrm>
          <a:prstGeom prst="ellipse">
            <a:avLst/>
          </a:prstGeom>
          <a:solidFill>
            <a:srgbClr val="D97A4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4023360" cy="4023360"/>
          </a:xfrm>
          <a:prstGeom prst="ellipse">
            <a:avLst/>
          </a:prstGeom>
          <a:solidFill>
            <a:srgbClr val="1C6E8C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23CSE498 · PROJECT PHASE II ·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Cross-Slice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Framework for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Glioma Segmentation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Multi-Modal MRI  —  Initial Project Idea Submission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704088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Harinandan G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AM.SC.U4CSE23122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Nived G Nair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AM.SC.U4CSE23139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440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Satvik Chaudhary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AM.SC.U4CSE23142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5440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Sunil Swaine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AM.SC.U4CSE23160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43434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9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48006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Tintu Vijayan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+91 91881 93646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School of Computing, Amritapuri Campus  |  Dept. of Computer Science &amp;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60520" cy="685800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glioma segmentation needs a rethink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3152" cy="1051560"/>
          </a:xfrm>
          <a:prstGeom prst="roundRect">
            <a:avLst/>
          </a:prstGeom>
          <a:solidFill>
            <a:srgbClr val="D97A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slow, inconsistent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2199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segment gliomas slice-by-slice by hand — time-consuming, and prone to disagreement between experts on the same scan.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73152" cy="1051560"/>
          </a:xfrm>
          <a:prstGeom prst="roundRect">
            <a:avLst/>
          </a:prstGeom>
          <a:solidFill>
            <a:srgbClr val="D97A4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101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CNNs see locally, not globally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68503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U-Net-style convolutional models dominate current practice. They excel at local detail but struggle to reason across the whole tumour volume.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73152" cy="1051560"/>
          </a:xfrm>
          <a:prstGeom prst="roundRect">
            <a:avLst/>
          </a:prstGeom>
          <a:solidFill>
            <a:srgbClr val="D9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77316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drift between slices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514807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slices are processed with limited global context, predicted tumour boundaries can vary slightly slice-to-slice — even though the true tumour changes smoothly.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32520" y="1188720"/>
            <a:ext cx="1371600" cy="13716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0" descr="/home/claude/ppt/icon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2852" y="1559052"/>
            <a:ext cx="630936" cy="6309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21040" y="27889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&amp; radiotherapy planning depends on precise, consistent tumour boundaries.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49640" y="4160520"/>
            <a:ext cx="2834640" cy="0"/>
          </a:xfrm>
          <a:prstGeom prst="line">
            <a:avLst/>
          </a:prstGeom>
          <a:noFill/>
          <a:ln w="12700">
            <a:solidFill>
              <a:srgbClr val="1C6E8C"/>
            </a:solidFill>
            <a:prstDash val="sysDot"/>
          </a:ln>
        </p:spPr>
      </p:sp>
      <p:sp>
        <p:nvSpPr>
          <p:cNvPr id="18" name="Text 15"/>
          <p:cNvSpPr/>
          <p:nvPr/>
        </p:nvSpPr>
        <p:spPr>
          <a:xfrm>
            <a:off x="8321040" y="43434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
</a:t>
            </a:r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consistency across the full 3D volume — not just per-slice accuracy.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precision, no global consistency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blocks capture local texture well, but a glioma is not a uniform block — its shape and extent shift continuously through the volume. Slice-wise Transformer variants address global context per slice, but typically treat each slice independently and are compute-heavy, so tumour sub-regions can still appear fragmented and inconsistent across the volume, and results may not generalise across different combinations of input MRI modalities.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956816"/>
            <a:ext cx="658368" cy="658368"/>
          </a:xfrm>
          <a:prstGeom prst="ellipse">
            <a:avLst/>
          </a:prstGeom>
          <a:solidFill>
            <a:srgbClr val="D97A4D"/>
          </a:solidFill>
          <a:ln/>
        </p:spPr>
      </p:sp>
      <p:pic>
        <p:nvPicPr>
          <p:cNvPr id="7" name="Image 0" descr="/home/claude/ppt/icon_layers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159" y="2134575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0" y="188366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 independence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95360" y="22219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Transformer variants largely ignore correlation between neighbouring slices.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3364992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0" y="3584448"/>
            <a:ext cx="658368" cy="658368"/>
          </a:xfrm>
          <a:prstGeom prst="ellipse">
            <a:avLst/>
          </a:prstGeom>
          <a:solidFill>
            <a:srgbClr val="D97A4D"/>
          </a:solidFill>
          <a:ln/>
        </p:spPr>
      </p:sp>
      <p:pic>
        <p:nvPicPr>
          <p:cNvPr id="12" name="Image 1" descr="/home/claude/ppt/icon_exchange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159" y="3762207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95360" y="351129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sub-regions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595360" y="3849624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sub-regions can appear splintered across the 3D volume.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89520" y="4992624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0" y="5212080"/>
            <a:ext cx="658368" cy="658368"/>
          </a:xfrm>
          <a:prstGeom prst="ellipse">
            <a:avLst/>
          </a:prstGeom>
          <a:solidFill>
            <a:srgbClr val="D97A4D"/>
          </a:solidFill>
          <a:ln/>
        </p:spPr>
      </p:sp>
      <p:pic>
        <p:nvPicPr>
          <p:cNvPr id="17" name="Image 2" descr="/home/claude/ppt/icon_sitemap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159" y="5389839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51389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Modality sensitivity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95360" y="5477256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may not transfer across different MRI modality combinations.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deliver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/home/claude/ppt/icon_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19" y="250819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implementation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Context-Aware Cross-Slice Transformer model for multi-modal MRI glioma segmentation.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2860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/home/claude/ppt/icon_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639" y="250819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375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evaluation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40233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the proposed model against existing CNN- and Transformer-based methods on BraTS 2020.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2860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/home/claude/ppt/icon_clipbo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59" y="250819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375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report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40233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methods, implementation, results and conclusions in a complete final report.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BraTS 2020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Segmentation Challenge dataset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914400" cy="914400"/>
          </a:xfrm>
          <a:prstGeom prst="ellipse">
            <a:avLst/>
          </a:prstGeom>
          <a:solidFill>
            <a:srgbClr val="D97A4D"/>
          </a:solidFill>
          <a:ln/>
        </p:spPr>
      </p:sp>
      <p:pic>
        <p:nvPicPr>
          <p:cNvPr id="7" name="Image 0" descr="/home/claude/ppt/icon_database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178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9834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across recent literature — enables direct, fair comparison with existing methods.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0" y="640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BraTS 2020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0" y="1143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benchmark used by most papers in the literature survey, which makes it straightforward to compare results with recent work — without the overhead of building a new annotated dataset from scratch.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22860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4231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63440" y="297180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anatomy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3640" y="22860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4231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55080" y="297180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955280" y="22860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24231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46720" y="297180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&amp; tumour extent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646920" y="22860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46920" y="24231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FLAIR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738360" y="297180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Oedema visibility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0" y="43434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Expert-annotated segmentation masks, from multiple contributing institutions, with reliable, well-documented labels.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0" y="516636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CFE3EE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51663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BraTS challenge site — med.upenn.edu/cbica/brats2020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EXPECTED 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encoder to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0824"/>
            <a:ext cx="658368" cy="658368"/>
          </a:xfrm>
          <a:prstGeom prst="ellipse">
            <a:avLst/>
          </a:prstGeom>
          <a:solidFill>
            <a:srgbClr val="1C6E8C"/>
          </a:solidFill>
          <a:ln/>
        </p:spPr>
      </p:sp>
      <p:pic>
        <p:nvPicPr>
          <p:cNvPr id="6" name="Image 0" descr="/home/claude/ppt/icon_magi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19858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208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37360" y="1965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Transformer encoder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35040" y="19659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multi-scale global features from multi-modal MRI input.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118104"/>
            <a:ext cx="658368" cy="658368"/>
          </a:xfrm>
          <a:prstGeom prst="ellipse">
            <a:avLst/>
          </a:prstGeom>
          <a:solidFill>
            <a:srgbClr val="1C6E8C"/>
          </a:solidFill>
          <a:ln/>
        </p:spPr>
      </p:sp>
      <p:pic>
        <p:nvPicPr>
          <p:cNvPr id="12" name="Image 1" descr="/home/claude/ppt/icon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39" y="3295863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181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737360" y="30632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Cross-Slice Transformer module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035040" y="3063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Relates adjacent slices in a context-aware manner so segmentation stays consistent through the volume, instead of jumping between slices.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215384"/>
            <a:ext cx="658368" cy="658368"/>
          </a:xfrm>
          <a:prstGeom prst="ellipse">
            <a:avLst/>
          </a:prstGeom>
          <a:solidFill>
            <a:srgbClr val="1C6E8C"/>
          </a:solidFill>
          <a:ln/>
        </p:spPr>
      </p:sp>
      <p:pic>
        <p:nvPicPr>
          <p:cNvPr id="18" name="Image 2" descr="/home/claude/ppt/icon_exchan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4393143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4215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737360" y="4160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modality fusion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035040" y="4160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T1, T1ce, T2 and FLAIR without over-relying on any single sequence.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5312664"/>
            <a:ext cx="658368" cy="658368"/>
          </a:xfrm>
          <a:prstGeom prst="ellipse">
            <a:avLst/>
          </a:prstGeom>
          <a:solidFill>
            <a:srgbClr val="1C6E8C"/>
          </a:solidFill>
          <a:ln/>
        </p:spPr>
      </p:sp>
      <p:pic>
        <p:nvPicPr>
          <p:cNvPr id="24" name="Image 3" descr="/home/claude/ppt/icon_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39" y="5490423"/>
            <a:ext cx="302849" cy="3028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" y="53126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737360" y="52578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on BraTS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035040" y="5257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Dice score against existing CNN and Transformer baselines.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review of recent work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846320"/>
        </p:xfrm>
        <a:graphic>
          <a:graphicData uri="http://schemas.openxmlformats.org/drawingml/2006/table">
            <a:tbl>
              <a:tblPr/>
              <a:tblGrid>
                <a:gridCol w="502920"/>
                <a:gridCol w="3108960"/>
                <a:gridCol w="548640"/>
                <a:gridCol w="6720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MM-MSCA-AF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 context aggregation + adaptive attention fusion for better feature extraction.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Transformer + Radiomics for IDH/TERT Gliomas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CrossFormer-based Transformer with radiomics to predict molecular subtypes.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SSL-MISS-Net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learning with missing-modality optimisation for robustness to incomplete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DeepGlioSeg (CTPC)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CNN-Transformer Parallel Combination fusing local and global representations.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Ensemble (GSG-UNet)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Dual-domain attention + asymmetric convolutions for joint segmentation &amp; grading.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Cross-Slice Transformer (Lymph Node, 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slice fusion for inter-slice context — the base paper for this project.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methods fall short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297680"/>
        </p:xfrm>
        <a:graphic>
          <a:graphicData uri="http://schemas.openxmlformats.org/drawingml/2006/table">
            <a:tbl>
              <a:tblPr/>
              <a:tblGrid>
                <a:gridCol w="2834640"/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MM-MSCA-AF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 context + adaptive 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9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cross-slice context modelling.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Transformer + Radiomics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CrossFormer ViT + radiomics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9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subtype prediction, not pixel-level segmentation.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SSL-MISS-Net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+ missing-modality 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9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diagnosis, not precise segmentation.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DeepGlioSeg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CNN-Transformer parallel (CTPC)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9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cross-slice or uncertainty-aware refinement.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Ensemble (GSG-UNet)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asymmetric conv + dual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9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CNN-based; no long-range inter-slice modelling.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080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60807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consistent, well-supported local &amp; global modelling — but none explicitly learn cross-slice dependencies across the full volume.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project addresses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literature shows real progress — multi-scale aggregation, adaptive attention, CNN-Transformer hybrids, self-supervised learning. But most methods still operate slice-by-slice, or at best within a single 3D patch, without modelling how one slice relates to the next across the whole volume.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relationship is exactly what keeps a 3D segmentation from looking jittery and inconsistent — and it directly affects how accurate the tumour boundary ends up being, which matters most in clinical use.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>
              <a:alpha val="7000"/>
            </a:srgbClr>
          </a:solidFill>
          <a:ln w="15875">
            <a:solidFill>
              <a:srgbClr val="D97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2057400"/>
            <a:ext cx="777240" cy="777240"/>
          </a:xfrm>
          <a:prstGeom prst="ellipse">
            <a:avLst/>
          </a:prstGeom>
          <a:solidFill>
            <a:srgbClr val="D97A4D"/>
          </a:solidFill>
          <a:ln/>
        </p:spPr>
      </p:sp>
      <p:pic>
        <p:nvPicPr>
          <p:cNvPr id="8" name="Image 0" descr="/home/claude/ppt/icon_search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815" y="2267255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37960" y="28803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adapt the cross-slice attention idea from the Cross-Slice Transformer with Adaptive Slice Fusion paper — originally built for lymph node segmentation in CT — and apply it to glioma segmentation on BraTS 2020.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4297680"/>
            <a:ext cx="4709160" cy="0"/>
          </a:xfrm>
          <a:prstGeom prst="line">
            <a:avLst/>
          </a:prstGeom>
          <a:noFill/>
          <a:ln w="12700">
            <a:solidFill>
              <a:srgbClr val="1C6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44805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segmentation framework designed to stay consistent slice-to-slice, without relying on a single-sequence shortcut.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PROPOSED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Cross-Slice Transformer — conceptual flow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_database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810" y="28492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MRI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T1, T1ce, T2, FLAIR slices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06040" y="322326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871216" y="23774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6E8C"/>
          </a:solidFill>
          <a:ln/>
        </p:spPr>
      </p:sp>
      <p:sp>
        <p:nvSpPr>
          <p:cNvPr id="11" name="Shape 8"/>
          <p:cNvSpPr/>
          <p:nvPr/>
        </p:nvSpPr>
        <p:spPr>
          <a:xfrm>
            <a:off x="3488436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/icon_magic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946" y="284927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8376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Transformer Encoder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08376" y="4160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global features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37176" y="322326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102352" y="23774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D97A4D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9572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/icon_layers_D97A4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082" y="284927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9512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Cross-Slice Transformer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39512" y="4160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Adjacent-slice context fusion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068312" y="322326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333488" y="23774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6E8C"/>
          </a:solidFill>
          <a:ln/>
        </p:spPr>
      </p:sp>
      <p:sp>
        <p:nvSpPr>
          <p:cNvPr id="23" name="Shape 18"/>
          <p:cNvSpPr/>
          <p:nvPr/>
        </p:nvSpPr>
        <p:spPr>
          <a:xfrm>
            <a:off x="7950708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ppt/icon_exchange_0B25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218" y="2849270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70648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Modality Fusion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0648" y="4160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multi-sequence input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299448" y="3223260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9564624" y="23774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29" name="Shape 23"/>
          <p:cNvSpPr/>
          <p:nvPr/>
        </p:nvSpPr>
        <p:spPr>
          <a:xfrm>
            <a:off x="10181844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/home/claude/ppt/icon_target_0B254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9354" y="2849270"/>
            <a:ext cx="336499" cy="33649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01784" y="3520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Output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01784" y="4160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volumetric mask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MRI slices are processed jointly rather than independently, so the predicted tumour boundary evolves smoothly through the volume instead of jumping between slices.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PUBLICATION VENUES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work could be shared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their focus on medical imaging and applied AI research, matching the scope of this project.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97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97A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Transactions on Medical Imaging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journal for computational &amp; quantitative medical imaging research.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97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9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MICCAI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42519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conference on medical image computing &amp; computer-assisted intervention.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4231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5F7F8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6974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9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Access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21040" y="42519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Broad-scope, rapid-review venue — also home to the base cross-slice paper.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Aslam et al., "Enhanced Brain Tumor Segmentation Using Multi-Modal Multi-Scale Contextual Aggregation and Attention Fusion," Scientific Reports, 2025.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Song et al., "An Integrated MRI-Based Diagnostic Framework for Glioma With Incomplete Imaging Sequences and Imperfect Annotations," npj Precision Oncology, 2025.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Niu et al., "MRI Transformer Deep Learning and Radiomics for Predicting IDH Wild-Type TERT Promoter Mutant Gliomas," npj Precision Oncology, 2025.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 et al., "DeepGlioSeg: Advanced Glioma MRI Data Segmentation With Integrated Local-Global Representation Architecture," Frontiers in Oncology, 2025.
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6916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Wen et al., "A Deep Ensemble Learning Framework for Glioma Segmentation and Grading Prediction," Scientific Reports, 2025.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Abdikenov et al., "Cross-Slice Transformer With Adaptive Slice Fusion for Lymph Node Segmentation in CT Imaging," IEEE Access, 2026.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BraTS 2020 Challenge Dataset — med.upenn.edu/cbica/brats2020
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6263640"/>
            <a:ext cx="10881360" cy="0"/>
          </a:xfrm>
          <a:prstGeom prst="line">
            <a:avLst/>
          </a:prstGeom>
          <a:noFill/>
          <a:ln w="9525">
            <a:solidFill>
              <a:srgbClr val="1C6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School of Computing, Amritapuri Campus  |  Guide: Dr. Tintu Vijayan  |  23CSE498 Project Phase II,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2026-07-15T03:46:12Z</dcterms:created>
  <dcterms:modified xsi:type="dcterms:W3CDTF">2026-07-15T03:46:12Z</dcterms:modified>
</cp:coreProperties>
</file>