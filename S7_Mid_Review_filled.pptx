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b="0" lang="en-IN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6B8A9CA-4D3E-4470-B296-D804A18ACC58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FE170F-3D6B-4E2B-9F74-E1AF29B6A51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4393E5-DACE-430A-8BDE-04095B88858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F324CA-B76B-4E4F-9A37-FB794BBFFA1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43A801-F37F-48E5-80CF-CDF23159AEE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538936-8F45-4BA6-9A43-D8686379E66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B01A16-7341-4D8F-A1FA-1149751EB92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7879C5-5DD3-4589-A5ED-8C7B6FA1D4B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B3376A-AB7D-43A2-AAF6-8590B5C5875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10E745-F2A9-4FC6-9DC3-624240F2607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9A2139-2BE1-493C-A909-B131BD3460E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5FFCE-32E7-4708-B493-34E0173E55C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90D837-FBD2-4BEF-92C3-4B3177325DD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b="0" lang="en-IN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IN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61c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138160" y="0"/>
            <a:ext cx="4050360" cy="6857640"/>
          </a:xfrm>
          <a:prstGeom prst="rect">
            <a:avLst/>
          </a:prstGeom>
          <a:solidFill>
            <a:srgbClr val="7a143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8640" y="5029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48640" y="85032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19202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201" strike="noStrike" u="none">
                <a:solidFill>
                  <a:srgbClr val="f7e3ea"/>
                </a:solidFill>
                <a:effectLst/>
                <a:uFillTx/>
                <a:latin typeface="Calibri"/>
                <a:ea typeface="Calibri"/>
              </a:rPr>
              <a:t>S7 PROJECT MID REVIEW</a:t>
            </a:r>
            <a:endParaRPr b="0" lang="en-IN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48640" y="2423160"/>
            <a:ext cx="74062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Context-Aware Cross-Slice Transformer Framework for Automated Glioma Segmentation Using Multi-Modal MRI</a:t>
            </a:r>
            <a:endParaRPr b="0" lang="en-IN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8640" y="434340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Guided by, </a:t>
            </a: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Dr. Tintu Vijayan</a:t>
            </a:r>
            <a:endParaRPr b="0" lang="en-IN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48640" y="5074920"/>
            <a:ext cx="5486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OpenSymbol"/>
              <a:buChar char="▪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Harinandan G — AM.SC.U4CSE23122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OpenSymbol"/>
              <a:buChar char="▪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Nived G Nair — AM.SC.U4CSE23139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OpenSymbol"/>
              <a:buChar char="▪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Satvik Chaudhary — AM.SC.U4CSE23142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OpenSymbol"/>
              <a:buChar char="▪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Sunil Swaine — AM.SC.U4CSE23160</a:t>
            </a: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Outline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548640" y="1554480"/>
            <a:ext cx="456840" cy="456840"/>
          </a:xfrm>
          <a:prstGeom prst="ellipse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548640" y="1554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1188720" y="15544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Introduction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>
            <a:off x="548640" y="2377440"/>
            <a:ext cx="456840" cy="456840"/>
          </a:xfrm>
          <a:prstGeom prst="ellipse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548640" y="2377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1188720" y="23774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Problem Definition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548640" y="3200400"/>
            <a:ext cx="456840" cy="456840"/>
          </a:xfrm>
          <a:prstGeom prst="ellipse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548640" y="32004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1188720" y="3200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Literature Review Summary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5"/>
          <p:cNvSpPr/>
          <p:nvPr/>
        </p:nvSpPr>
        <p:spPr>
          <a:xfrm>
            <a:off x="548640" y="4023360"/>
            <a:ext cx="456840" cy="456840"/>
          </a:xfrm>
          <a:prstGeom prst="ellipse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548640" y="4023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1188720" y="40233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Research Gap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8"/>
          <p:cNvSpPr/>
          <p:nvPr/>
        </p:nvSpPr>
        <p:spPr>
          <a:xfrm>
            <a:off x="548640" y="4846320"/>
            <a:ext cx="456840" cy="456840"/>
          </a:xfrm>
          <a:prstGeom prst="ellipse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548640" y="4846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1188720" y="4846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1"/>
          <p:cNvSpPr/>
          <p:nvPr/>
        </p:nvSpPr>
        <p:spPr>
          <a:xfrm>
            <a:off x="6217920" y="1554480"/>
            <a:ext cx="456840" cy="456840"/>
          </a:xfrm>
          <a:prstGeom prst="ellipse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2"/>
          <p:cNvSpPr/>
          <p:nvPr/>
        </p:nvSpPr>
        <p:spPr>
          <a:xfrm>
            <a:off x="6217920" y="1554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3"/>
          <p:cNvSpPr/>
          <p:nvPr/>
        </p:nvSpPr>
        <p:spPr>
          <a:xfrm>
            <a:off x="6858000" y="15544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Design / Architecture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4"/>
          <p:cNvSpPr/>
          <p:nvPr/>
        </p:nvSpPr>
        <p:spPr>
          <a:xfrm>
            <a:off x="6217920" y="2377440"/>
            <a:ext cx="456840" cy="456840"/>
          </a:xfrm>
          <a:prstGeom prst="ellipse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5"/>
          <p:cNvSpPr/>
          <p:nvPr/>
        </p:nvSpPr>
        <p:spPr>
          <a:xfrm>
            <a:off x="6217920" y="2377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6"/>
          <p:cNvSpPr/>
          <p:nvPr/>
        </p:nvSpPr>
        <p:spPr>
          <a:xfrm>
            <a:off x="6858000" y="23774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Algorithms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7"/>
          <p:cNvSpPr/>
          <p:nvPr/>
        </p:nvSpPr>
        <p:spPr>
          <a:xfrm>
            <a:off x="6217920" y="3200400"/>
            <a:ext cx="456840" cy="456840"/>
          </a:xfrm>
          <a:prstGeom prst="ellipse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8"/>
          <p:cNvSpPr/>
          <p:nvPr/>
        </p:nvSpPr>
        <p:spPr>
          <a:xfrm>
            <a:off x="6217920" y="32004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8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9"/>
          <p:cNvSpPr/>
          <p:nvPr/>
        </p:nvSpPr>
        <p:spPr>
          <a:xfrm>
            <a:off x="6858000" y="3200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Result Analysis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0"/>
          <p:cNvSpPr/>
          <p:nvPr/>
        </p:nvSpPr>
        <p:spPr>
          <a:xfrm>
            <a:off x="6217920" y="4023360"/>
            <a:ext cx="456840" cy="456840"/>
          </a:xfrm>
          <a:prstGeom prst="ellipse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1"/>
          <p:cNvSpPr/>
          <p:nvPr/>
        </p:nvSpPr>
        <p:spPr>
          <a:xfrm>
            <a:off x="6217920" y="4023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9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2"/>
          <p:cNvSpPr/>
          <p:nvPr/>
        </p:nvSpPr>
        <p:spPr>
          <a:xfrm>
            <a:off x="6858000" y="40233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Project Time Line (Plan)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3"/>
          <p:cNvSpPr/>
          <p:nvPr/>
        </p:nvSpPr>
        <p:spPr>
          <a:xfrm>
            <a:off x="6217920" y="4846320"/>
            <a:ext cx="456840" cy="456840"/>
          </a:xfrm>
          <a:prstGeom prst="ellipse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4"/>
          <p:cNvSpPr/>
          <p:nvPr/>
        </p:nvSpPr>
        <p:spPr>
          <a:xfrm>
            <a:off x="6217920" y="4846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10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5"/>
          <p:cNvSpPr/>
          <p:nvPr/>
        </p:nvSpPr>
        <p:spPr>
          <a:xfrm>
            <a:off x="6858000" y="4846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Reference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Introduction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548640" y="1417320"/>
            <a:ext cx="54360" cy="420588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914400" y="1554480"/>
            <a:ext cx="1060668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Gliomas are among the most common primary brain tumours; accurate segmentation of tumour boundaries directly supports surgical planning and radiotherapy targeting.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Manual, slice-by-slice segmentation by radiologists is time-consuming and subject to inter-observer variability.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This project proposes a Context-Aware Cross-Slice Transformer that fuses information across neighbouring MRI slices to produce more consistent, automated glioma segmentation.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The framework is built and evaluated on the BraTS2020 multi-modal MRI dataset (369 patient volumes; T1, T1ce, T2, FLAIR).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7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Goal: reduce diagnostic delay and radiologist workload with a reliable, automated segmentation pipeline — especially valuable in resource-limited healthcare settings (SDG 3).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Problem Definition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548640" y="1417320"/>
            <a:ext cx="10515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7a1439"/>
                </a:solidFill>
                <a:effectLst/>
                <a:uFillTx/>
                <a:latin typeface="Cambria"/>
                <a:ea typeface="Cambria"/>
              </a:rPr>
              <a:t>Motivation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914400" y="1856160"/>
            <a:ext cx="10149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Manual, slice-by-slice tumour segmentation is time-consuming and inconsistent across radiologists.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Automated, clinically reliable segmentation can reduce diagnostic delay and ease radiology workload, particularly where specialists are scarce.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548640" y="3026520"/>
            <a:ext cx="10515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7a1439"/>
                </a:solidFill>
                <a:effectLst/>
                <a:uFillTx/>
                <a:latin typeface="Cambria"/>
                <a:ea typeface="Cambria"/>
              </a:rPr>
              <a:t>Problem Statement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914400" y="3465720"/>
            <a:ext cx="10149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Conventional 2-D segmentation networks process each MRI slice independently, ignoring anatomical continuity between adjacent slices — limiting volumetric consistency of predicted tumour boundaries.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548640" y="4178880"/>
            <a:ext cx="10515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7a1439"/>
                </a:solidFill>
                <a:effectLst/>
                <a:uFillTx/>
                <a:latin typeface="Cambria"/>
                <a:ea typeface="Cambria"/>
              </a:rPr>
              <a:t>Objectives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914400" y="4617720"/>
            <a:ext cx="10149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Design a Cross-Slice Transformer that fuses neighbouring-slice context at the U-Net bottleneck.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Achieve Dice scores competitive with or better than CNN/Transformer baselines, with emphasis on the Enhancing Tumour (ET) region.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Run a controlled ablation (K = 1 baseline vs. K = 5 proposed) to isolate the contribution of cross-slice attention.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Literature Review Summary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Table 0"/>
          <p:cNvGraphicFramePr/>
          <p:nvPr/>
        </p:nvGraphicFramePr>
        <p:xfrm>
          <a:off x="457200" y="1188720"/>
          <a:ext cx="11274120" cy="4891680"/>
        </p:xfrm>
        <a:graphic>
          <a:graphicData uri="http://schemas.openxmlformats.org/drawingml/2006/table">
            <a:tbl>
              <a:tblPr/>
              <a:tblGrid>
                <a:gridCol w="502920"/>
                <a:gridCol w="2834640"/>
                <a:gridCol w="3749040"/>
                <a:gridCol w="2834640"/>
                <a:gridCol w="1353240"/>
              </a:tblGrid>
              <a:tr h="698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Yr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Paper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Key Contribution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Demerit / Gap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Dataset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</a:tr>
              <a:tr h="698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MM-MSCA-AF: Multi-Modal Multi-Scale Context Aggregation and Adaptive Fusion for Glioma Segmentation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Combines multi-scale context aggregation with adaptive attention fusion for better feature extraction and segmentation accuracy on multi-modal MRI.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Doesn't really model how context relates across slices in the MRI volume.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BraTS2020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MRI Transformer Deep Learning and Radiomics for Predicting IDH Wild-Type TERT Promoter Mutant Gliomas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Uses a CrossFormer-based Transformer with radiomics features to capture global context for glioma analysis and predicting molecular subtypes.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More focused on predicting molecular subtype rather than doing pixel-level tumor segmentation.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1185 Glioma MRI Cases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</a:tr>
              <a:tr h="698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 Integrated MRI-Based Diagnostic Framework for Glioma with Incomplete Imaging Sequences and Imperfect Annotations (SSL-MISS-Net)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Applies self-supervised learning with a missing-modality optimization strategy so the model stays robust with incomplete MRI modalities or noisy annotations.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Handles missing modalities well but is built more for diagnosis than precise segmentation.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Multi-center MRI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DeepGlioSeg: Advanced Glioma MRI Data Segmentation with Integrated Local-Global Representation Architecture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Proposes a CNN-Transformer Parallel Combination (CTPC) module that brings together local and global feature representations for glioma segmentation.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Captures local and global features but doesn't explicitly learn cross-slice context or do uncertainty-aware refinement.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BraTS2019/2020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</a:tr>
              <a:tr h="698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Deep Ensemble Learning Framework for Glioma Segmentation and Grading Prediction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Introduces GSG-UNet, which uses dual-domain attention, asymmetric convolutions, and multi-task learning to do segmentation and grading at the same time.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Mostly CNN-based, so it doesn't model long-range inter-slice dependencies the way attention-based methods could.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BraTS2020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Cross-Slice Transformer With Adaptive Slice Fusion for Lymph Node Segmentation in CT Imaging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Suggests a Cross-Slice Transformer with Adaptive Slice Fusion for inter-slice context modelling in segmentation of CT scans. Main paper our proposed approach is based on.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Designed for CT lymph nodes, not MRI glioma — adapting it to multi-modal brain MRI is the gap this project addresses.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CT Lymph Node data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</a:tr>
            </a:tbl>
          </a:graphicData>
        </a:graphic>
      </p:graphicFrame>
      <p:sp>
        <p:nvSpPr>
          <p:cNvPr id="78" name="Text 6"/>
          <p:cNvSpPr/>
          <p:nvPr/>
        </p:nvSpPr>
        <p:spPr>
          <a:xfrm>
            <a:off x="457200" y="6126480"/>
            <a:ext cx="1127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Eval. metrics used per paper — to be added once confirmed from each paper.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Research Gap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5" name="Table 0"/>
          <p:cNvGraphicFramePr/>
          <p:nvPr/>
        </p:nvGraphicFramePr>
        <p:xfrm>
          <a:off x="548640" y="1371600"/>
          <a:ext cx="7314840" cy="3931560"/>
        </p:xfrm>
        <a:graphic>
          <a:graphicData uri="http://schemas.openxmlformats.org/drawingml/2006/table">
            <a:tbl>
              <a:tblPr/>
              <a:tblGrid>
                <a:gridCol w="2103120"/>
                <a:gridCol w="5212080"/>
              </a:tblGrid>
              <a:tr h="561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Reviewed Work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Gap Identified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</a:tr>
              <a:tr h="561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MM-MSCA-AF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Doesn't really model how context relates across slices in the MRI volume.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MRI Transformer + Radiomics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More focused on predicting molecular subtype than doing pixel-level tumour segmentation.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</a:tr>
              <a:tr h="561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SSL-MISS-Net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Handles missing modalities well but is built more for diagnosis than precise segmentation.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DeepGlioSeg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Captures local and global features but doesn't explicitly learn cross-slice context.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</a:tr>
              <a:tr h="561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Deep Ensemble (GSG-UNet)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Mostly CNN-based — doesn't model long-range inter-slice dependencies.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Cross-Slice Transformer (CT)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Built for CT lymph nodes, not MRI glioma — not yet adapted to this clinical domain.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</a:tr>
            </a:tbl>
          </a:graphicData>
        </a:graphic>
      </p:graphicFrame>
      <p:sp>
        <p:nvSpPr>
          <p:cNvPr id="86" name="Shape 6"/>
          <p:cNvSpPr/>
          <p:nvPr/>
        </p:nvSpPr>
        <p:spPr>
          <a:xfrm>
            <a:off x="8092440" y="1371600"/>
            <a:ext cx="3547440" cy="3931560"/>
          </a:xfrm>
          <a:prstGeom prst="roundRect">
            <a:avLst>
              <a:gd name="adj" fmla="val 2062"/>
            </a:avLst>
          </a:prstGeom>
          <a:solidFill>
            <a:srgbClr val="f7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8321040" y="15544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7a1439"/>
                </a:solidFill>
                <a:effectLst/>
                <a:uFillTx/>
                <a:latin typeface="Cambria"/>
                <a:ea typeface="Cambria"/>
              </a:rPr>
              <a:t>Overall Gap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8321040" y="1965960"/>
            <a:ext cx="31086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No existing glioma-segmentation method explicitly models inter-slice context with attention. The closest mechanism (Cross-Slice Transformer with Adaptive Slice Fusion) was built for CT lymph nodes — adapting it to multi-modal brain MRI glioma segmentation is the gap this project addresses.</a:t>
            </a:r>
            <a:endParaRPr b="0" lang="en-IN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Methodology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" name="Table 0"/>
          <p:cNvGraphicFramePr/>
          <p:nvPr/>
        </p:nvGraphicFramePr>
        <p:xfrm>
          <a:off x="548640" y="1417320"/>
          <a:ext cx="11091240" cy="4480200"/>
        </p:xfrm>
        <a:graphic>
          <a:graphicData uri="http://schemas.openxmlformats.org/drawingml/2006/table">
            <a:tbl>
              <a:tblPr/>
              <a:tblGrid>
                <a:gridCol w="2286000"/>
                <a:gridCol w="8805600"/>
              </a:tblGrid>
              <a:tr h="896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Category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Details</a:t>
                      </a:r>
                      <a:endParaRPr b="0" lang="en-IN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Dataset</a:t>
                      </a:r>
                      <a:endParaRPr b="0" lang="en-IN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BraTS2020 — preprocessed per-slice HDF5 files, 369 patient volumes; 4 MRI modalities (T1, T1ce, T2, FLAIR) + one-hot segmentation masks; patient-level 80/20 train-val split (no leakage).</a:t>
                      </a:r>
                      <a:endParaRPr b="0" lang="en-IN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Platform</a:t>
                      </a:r>
                      <a:endParaRPr b="0" lang="en-IN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 Colab (GPU training); Visual Studio Code and Jupyter Notebook for development; Git/GitHub for version control.</a:t>
                      </a:r>
                      <a:endParaRPr b="0" lang="en-IN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noFill/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Hardware</a:t>
                      </a:r>
                      <a:endParaRPr b="0" lang="en-IN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NVIDIA RTX 3050 Laptop GPU (4 GB VRAM, min. spec); 12th Gen Intel Core i5-12500H; 16 GB RAM; ~15 GB SSD storage.</a:t>
                      </a:r>
                      <a:endParaRPr b="0" lang="en-IN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e3ea"/>
                    </a:solidFill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Technology Stack</a:t>
                      </a:r>
                      <a:endParaRPr b="0" lang="en-IN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Python 3.13, PyTorch 2.7 (CUDA 12.6); torch.nn, torch.cuda.amp, NumPy, h5py; LaTeX, Mermaid, Lucidchart for documentation/diagrams.</a:t>
                      </a:r>
                      <a:endParaRPr b="0" lang="en-IN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Design / Architecture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7" descr="arch_diagram.png"/>
          <p:cNvPicPr/>
          <p:nvPr/>
        </p:nvPicPr>
        <p:blipFill>
          <a:blip r:embed="rId1"/>
          <a:stretch/>
        </p:blipFill>
        <p:spPr>
          <a:xfrm>
            <a:off x="4056480" y="1170360"/>
            <a:ext cx="407592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8"/>
          <p:cNvSpPr/>
          <p:nvPr/>
        </p:nvSpPr>
        <p:spPr>
          <a:xfrm>
            <a:off x="1828800" y="6263640"/>
            <a:ext cx="8503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IN" sz="800" strike="noStrike" u="none">
                <a:solidFill>
                  <a:srgbClr val="586576"/>
                </a:solidFill>
                <a:effectLst/>
                <a:uFillTx/>
                <a:latin typeface="Calibri"/>
              </a:rPr>
              <a:t>Figure: Cross-Slice U-Net — shared 2-D U-Net encoder (down) → Cross-Slice Transformer at the bottleneck (novel) → U-Net decoder (up); K=1 removes the orange block, giving the baseline.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Algorithms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548640" y="141732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7a1439"/>
                </a:solidFill>
                <a:effectLst/>
                <a:uFillTx/>
                <a:latin typeface="Cambria"/>
                <a:ea typeface="Cambria"/>
              </a:rPr>
              <a:t>Novelty / Innovation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548640" y="1810440"/>
            <a:ext cx="5394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Cross-Slice Transformer fuses bottleneck features of K neighbouring slices via multi-head self-attention with learnable slice-position embeddings.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Centre slice attends to surrounding-slice context — no extra gating or explicit fusion module required.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6217920" y="141732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7a1439"/>
                </a:solidFill>
                <a:effectLst/>
                <a:uFillTx/>
                <a:latin typeface="Cambria"/>
                <a:ea typeface="Cambria"/>
              </a:rPr>
              <a:t>Training &amp; Testing Steps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6217920" y="1810440"/>
            <a:ext cx="53946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Encoder (shared 2-D U-Net) → Cross-Slice Transformer → decoder (centre-slice skips).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Loss: 0.5×Dice + 0.5×BCE-with-logits; optimiser AdamW with cosine LR schedule; mixed precision (AMP).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Per-epoch validation: sigmoid → threshold 0.5 → WT / TC / ET Dice; best checkpoint saved.</a:t>
            </a:r>
            <a:endParaRPr b="0" lang="en-IN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548640" y="3703320"/>
            <a:ext cx="11091600" cy="360"/>
          </a:xfrm>
          <a:prstGeom prst="line">
            <a:avLst/>
          </a:prstGeom>
          <a:ln w="12700">
            <a:solidFill>
              <a:srgbClr val="e0c7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548640" y="384048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7a1439"/>
                </a:solidFill>
                <a:effectLst/>
                <a:uFillTx/>
                <a:latin typeface="Cambria"/>
                <a:ea typeface="Cambria"/>
              </a:rPr>
              <a:t>Hyperparameters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914400" y="4251960"/>
            <a:ext cx="106066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K = 5 neighbouring slices (odd, centre = target); foreground-only sampling (centre slice must contain tumour)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U-Net width base_ch = 48 → ~6.7M params, ~2.5 GB VRAM at batch 4 (fits 4 GB GPUs)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Cross-Slice Transformer: 4 attention heads, 2 encoder layers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Batch size 4 · 30 epochs · LR 2e-4 · weight decay 1e-5 · AdamW + cosine-annealing LR (T_max = epochs)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Loss: 0.5 Dice + 0.5 BCE · AMP mixed precision · patient-level 80/20 split (val_frac = 0.2) · seed = 42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Result Analysis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548640" y="11887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100" strike="noStrike" u="none">
                <a:solidFill>
                  <a:srgbClr val="245e9e"/>
                </a:solidFill>
                <a:effectLst/>
                <a:uFillTx/>
                <a:latin typeface="Calibri"/>
              </a:rPr>
              <a:t>Ablation — cross-slice contribution (Dice ×100, our protocol)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4" name="Table 8"/>
          <p:cNvGraphicFramePr/>
          <p:nvPr/>
        </p:nvGraphicFramePr>
        <p:xfrm>
          <a:off x="548640" y="1481400"/>
          <a:ext cx="5568480" cy="12798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713160"/>
                <a:gridCol w="713160"/>
                <a:gridCol w="713160"/>
                <a:gridCol w="777240"/>
              </a:tblGrid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Model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Data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WT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TC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ET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Mean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Baseline U-Net (K=1)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Full 369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76.1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81.1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81.3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79.5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Cross-Slice (K=5)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Full 369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75.8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80.5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80.7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79.0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Baseline U-Net (K=1)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Limited 16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75.7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67.6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63.4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68.9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Cross-Slice (K=5)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Limited 16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77.3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72.3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65.2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71.6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125" name="TextBox 9"/>
          <p:cNvSpPr/>
          <p:nvPr/>
        </p:nvSpPr>
        <p:spPr>
          <a:xfrm>
            <a:off x="548640" y="29991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IN" sz="800" strike="noStrike" u="none">
                <a:solidFill>
                  <a:srgbClr val="586576"/>
                </a:solidFill>
                <a:effectLst/>
                <a:uFillTx/>
                <a:latin typeface="Calibri"/>
              </a:rPr>
              <a:t>Cross-slice wins most when data is scarce (+2.7 mean at 16 vols); ties on full data.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548640" y="33832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100" strike="noStrike" u="none">
                <a:solidFill>
                  <a:srgbClr val="245e9e"/>
                </a:solidFill>
                <a:effectLst/>
                <a:uFillTx/>
                <a:latin typeface="Calibri"/>
              </a:rPr>
              <a:t>Effect of slice context K (16-volume study)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7" name="Table 11"/>
          <p:cNvGraphicFramePr/>
          <p:nvPr/>
        </p:nvGraphicFramePr>
        <p:xfrm>
          <a:off x="548640" y="3675960"/>
          <a:ext cx="5531760" cy="1023840"/>
        </p:xfrm>
        <a:graphic>
          <a:graphicData uri="http://schemas.openxmlformats.org/drawingml/2006/table">
            <a:tbl>
              <a:tblPr/>
              <a:tblGrid>
                <a:gridCol w="1874160"/>
                <a:gridCol w="914400"/>
                <a:gridCol w="914400"/>
                <a:gridCol w="914400"/>
                <a:gridCol w="914400"/>
              </a:tblGrid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Slices K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WT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TC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ET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Mean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K = 1 (baseline)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75.7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67.6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63.4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68.9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K = 3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76.5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70.4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64.7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70.5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K = 5 (proposed)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77.3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72.3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65.2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71.6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128" name="TextBox 12"/>
          <p:cNvSpPr/>
          <p:nvPr/>
        </p:nvSpPr>
        <p:spPr>
          <a:xfrm>
            <a:off x="548640" y="49194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IN" sz="800" strike="noStrike" u="none">
                <a:solidFill>
                  <a:srgbClr val="586576"/>
                </a:solidFill>
                <a:effectLst/>
                <a:uFillTx/>
                <a:latin typeface="Calibri"/>
              </a:rPr>
              <a:t>Monotonic gain — more slice context = higher Dice.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3"/>
          <p:cNvSpPr/>
          <p:nvPr/>
        </p:nvSpPr>
        <p:spPr>
          <a:xfrm>
            <a:off x="6309360" y="1188720"/>
            <a:ext cx="5577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100" strike="noStrike" u="none">
                <a:solidFill>
                  <a:srgbClr val="245e9e"/>
                </a:solidFill>
                <a:effectLst/>
                <a:uFillTx/>
                <a:latin typeface="Calibri"/>
              </a:rPr>
              <a:t>Context vs. published BraTS 2020 works (Dice ×100)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0" name="Table 14"/>
          <p:cNvGraphicFramePr/>
          <p:nvPr/>
        </p:nvGraphicFramePr>
        <p:xfrm>
          <a:off x="6309360" y="1481400"/>
          <a:ext cx="5522760" cy="2559960"/>
        </p:xfrm>
        <a:graphic>
          <a:graphicData uri="http://schemas.openxmlformats.org/drawingml/2006/table">
            <a:tbl>
              <a:tblPr/>
              <a:tblGrid>
                <a:gridCol w="2331720"/>
                <a:gridCol w="777240"/>
                <a:gridCol w="804600"/>
                <a:gridCol w="804600"/>
                <a:gridCol w="804600"/>
              </a:tblGrid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Method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Year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WT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TC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ET</a:t>
                      </a:r>
                      <a:endParaRPr b="0" lang="en-IN" sz="9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5e9e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3D U-Net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2016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84.1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79.1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68.8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Attention U-Net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2018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85.6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76.0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71.8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TransUNet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2021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89.5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78.9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78.2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TransBTS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2021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90.1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81.7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78.7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nnU-Net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2021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90.4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82.5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78.9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Swin-UNet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2022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89.4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78.8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78.5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UNETR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2022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88.3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75.9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71.2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CFCI-Net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2025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90.8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84.0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79.6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lIns="45720" rIns="36360" tIns="9000" bIns="9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Ours (2.5-D, 4 GB)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2026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76.1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81.1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lIns="45720" rIns="36360" tIns="9000" bIns="9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50" strike="noStrike" u="none">
                          <a:solidFill>
                            <a:srgbClr val="19212b"/>
                          </a:solidFill>
                          <a:effectLst/>
                          <a:uFillTx/>
                          <a:latin typeface="Calibri"/>
                        </a:rPr>
                        <a:t>81.3</a:t>
                      </a:r>
                      <a:endParaRPr b="0" lang="en-IN" sz="9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131" name="TextBox 15"/>
          <p:cNvSpPr/>
          <p:nvPr/>
        </p:nvSpPr>
        <p:spPr>
          <a:xfrm>
            <a:off x="6309360" y="5010840"/>
            <a:ext cx="5577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IN" sz="800" strike="noStrike" u="none">
                <a:solidFill>
                  <a:srgbClr val="586576"/>
                </a:solidFill>
                <a:effectLst/>
                <a:uFillTx/>
                <a:latin typeface="Calibri"/>
              </a:rPr>
              <a:t>Published = 3-D volumetric Dice on the official BraTS 2020 validation server (24 GB+ GPUs). Ours = 2-D slice Dice, local split, 4 GB budget — shown for context, NOT a like-for-like comparison. Our TC/ET are competitive; WT gap is largely a 2-D-vs-3-D metric artifact.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Project Time Line (Plan)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8" name="Table 0"/>
          <p:cNvGraphicFramePr/>
          <p:nvPr/>
        </p:nvGraphicFramePr>
        <p:xfrm>
          <a:off x="548640" y="1325880"/>
          <a:ext cx="11091240" cy="4845960"/>
        </p:xfrm>
        <a:graphic>
          <a:graphicData uri="http://schemas.openxmlformats.org/drawingml/2006/table">
            <a:tbl>
              <a:tblPr/>
              <a:tblGrid>
                <a:gridCol w="1005840"/>
                <a:gridCol w="6062400"/>
                <a:gridCol w="2011680"/>
                <a:gridCol w="2011680"/>
              </a:tblGrid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Sem.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Milestone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Target Date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Status</a:t>
                      </a:r>
                      <a:endParaRPr b="0" lang="en-IN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a61c4b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Project domain exploration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 Feb 2026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3a7d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Completed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Literature review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 Mar 2026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3a7d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Completed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Baseline implementation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30 Apr 2026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3a7d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Completed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S7-1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Comprehensive literature survey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 Jul 2026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3a7d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Completed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S7-1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Research gap identification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 Jul 2026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3a7d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Completed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S7-1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Problem statement finalised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25 Jul 2026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3a7d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Completed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S7-2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be3e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System design (architecture &amp; workflow)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be3e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06 Aug 2026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be3e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a61c4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Current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be3ec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S7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Prototype implementation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 Oct 2026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6b6b6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Planned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S7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Module integration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 Nov 2026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6b6b6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Planned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S7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Testing and validation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 Dec 2026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6b6b6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Planned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S8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System enhancement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31 Jan 2027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6b6b6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Planned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26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S8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Performance evaluation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28 Feb 2027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trike="noStrike" u="none">
                          <a:solidFill>
                            <a:srgbClr val="6b6b6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Planned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0c7d4"/>
                      </a:solidFill>
                      <a:prstDash val="solid"/>
                    </a:lnL>
                    <a:lnR w="9360">
                      <a:solidFill>
                        <a:srgbClr val="e0c7d4"/>
                      </a:solidFill>
                      <a:prstDash val="solid"/>
                    </a:lnR>
                    <a:lnT w="9360">
                      <a:solidFill>
                        <a:srgbClr val="e0c7d4"/>
                      </a:solidFill>
                      <a:prstDash val="solid"/>
                    </a:lnT>
                    <a:lnB w="9360">
                      <a:solidFill>
                        <a:srgbClr val="e0c7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a61c4b"/>
                </a:solidFill>
                <a:effectLst/>
                <a:uFillTx/>
                <a:latin typeface="Cambria"/>
                <a:ea typeface="Cambria"/>
              </a:rPr>
              <a:t>Reference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0" y="6400800"/>
            <a:ext cx="12188520" cy="456840"/>
          </a:xfrm>
          <a:prstGeom prst="rect">
            <a:avLst/>
          </a:prstGeom>
          <a:solidFill>
            <a:srgbClr val="a61c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137160" y="64008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914400" y="64008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Cross-Slice Transformer for Glioma Segmentation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9784080" y="6437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AMRITA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9784080" y="66204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99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VISHWA VIDYAPEETHAM</a:t>
            </a:r>
            <a:endParaRPr b="0" lang="en-IN" sz="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548640" y="1463040"/>
            <a:ext cx="1109124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2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[1]  W. Aslam, J. Hussain, M. Z. Aslam, S. Jan, T. B. Riaz, A. Iqbal, M. Arif, and I. Khan, "Enhanced Brain Tumor Segmentation in Medical Imaging Using Multi-Modal Multi-Scale Contextual Aggregation and Attention Fusion," Scientific Reports, vol. 15, 2025.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2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[2]  P. Song, C. Shen, Z. Fan, F. Yin, Y. Wu, F. Liu, C. Zhao, W. Zeng, X. Xie, G. Wu, B. Yang, Z. Shi, and J. Yu, "An Integrated MRI-Based Diagnostic Framework for Glioma With Incomplete Imaging Sequences and Imperfect Annotations," npj Precision Oncology, vol. 9, 2025.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2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[3]  R. Li, Y. Liao, Y. Huang, X. Ma, G. Zhao, Y. Wang, and C. Song, "DeepGlioSeg: Advanced Glioma MRI Data Segmentation With Integrated Local-Global Representation Architecture," Frontiers in Oncology, vol. 15, Art. no. 1449911, 2025.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2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[4]  L. Wen, H. Sun, G. Liang, and Y. Yu, "A Deep Ensemble Learning Framework for Glioma Segmentation and Grading Prediction," Scientific Reports, vol. 15, Art. no. 4448, 2025.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250" strike="noStrike" u="none">
                <a:solidFill>
                  <a:srgbClr val="262626"/>
                </a:solidFill>
                <a:effectLst/>
                <a:uFillTx/>
                <a:latin typeface="Calibri"/>
                <a:ea typeface="Calibri"/>
              </a:rPr>
              <a:t>[5]  B. Abdikenov, Z. Kairat, T. Zhaksylyk, Y. Orazayev, B. Ayanbayev, and N. Saidnassim, "Cross-Slice Transformer With Adaptive Slice Fusion for Lymph Node Segmentation in CT Imaging," IEEE Access, vol. 14, pp. 98650–98670, 2026.</a:t>
            </a:r>
            <a:endParaRPr b="0" lang="en-IN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LibreOffice/25.2.7.2$Linux_X86_64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2026-09-10T15:01:17Z</dcterms:created>
  <dc:creator>PptxGenJS</dc:creator>
  <dc:description/>
  <dc:language>en-IN</dc:language>
  <cp:lastModifiedBy/>
  <dcterms:modified xsi:type="dcterms:W3CDTF">2026-09-11T01:03:07Z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